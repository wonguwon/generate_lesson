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판매금액(원)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강남점</c:v>
                </c:pt>
                <c:pt idx="1">
                  <c:v>송파점</c:v>
                </c:pt>
                <c:pt idx="2">
                  <c:v>분당점</c:v>
                </c:pt>
                <c:pt idx="3">
                  <c:v>일산점</c:v>
                </c:pt>
                <c:pt idx="4">
                  <c:v>인천점</c:v>
                </c:pt>
                <c:pt idx="5">
                  <c:v>수원점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39353380</c:v>
                </c:pt>
                <c:pt idx="1">
                  <c:v>33837000</c:v>
                </c:pt>
                <c:pt idx="2">
                  <c:v>36455060</c:v>
                </c:pt>
                <c:pt idx="3">
                  <c:v>28913100</c:v>
                </c:pt>
                <c:pt idx="4">
                  <c:v>31264120</c:v>
                </c:pt>
                <c:pt idx="5">
                  <c:v>33060380</c:v>
                </c:pt>
              </c:numCache>
            </c:numRef>
          </c:val>
        </c:ser>
        <c:dLbls>
          <c:numFmt formatCode="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맑은 고딕"/>
          <a:ea typeface="맑은 고딕"/>
          <a:cs typeface="맑은 고딕"/>
        </a:defRPr>
      </a:pPr>
      <a:endParaRPr lang="en-US">
        <a:latin typeface="맑은 고딕"/>
        <a:ea typeface="맑은 고딕"/>
        <a:cs typeface="맑은 고딕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판매금액(원)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1주차 9/1~9/6</c:v>
                </c:pt>
                <c:pt idx="1">
                  <c:v>2주차 9/7~9/13</c:v>
                </c:pt>
                <c:pt idx="2">
                  <c:v>3주차 9/14~9/20</c:v>
                </c:pt>
                <c:pt idx="3">
                  <c:v>4주차 9/21~9/27</c:v>
                </c:pt>
                <c:pt idx="4">
                  <c:v>5주차 9/28~9/30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42364900</c:v>
                </c:pt>
                <c:pt idx="1">
                  <c:v>48978400</c:v>
                </c:pt>
                <c:pt idx="2">
                  <c:v>49324200</c:v>
                </c:pt>
                <c:pt idx="3">
                  <c:v>42233500</c:v>
                </c:pt>
                <c:pt idx="4">
                  <c:v>19982040</c:v>
                </c:pt>
              </c:numCache>
            </c:numRef>
          </c:val>
          <c:smooth val="0"/>
        </c:ser>
        <c:dLbls>
          <c:numFmt formatCode="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맑은 고딕"/>
          <a:ea typeface="맑은 고딕"/>
          <a:cs typeface="맑은 고딕"/>
        </a:defRPr>
      </a:pPr>
      <a:endParaRPr lang="en-US">
        <a:latin typeface="맑은 고딕"/>
        <a:ea typeface="맑은 고딕"/>
        <a:cs typeface="맑은 고딕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다온유통 9월 판매 실적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영업지원팀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9월 핵심 숫자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2000">
                <a:latin typeface="맑은 고딕"/>
                <a:ea typeface="맑은 고딕"/>
                <a:cs typeface="맑은 고딕"/>
              </a:rPr>
              <a:t>총판매수량</a:t>
            </a:r>
          </a:p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3600" b="1">
                <a:latin typeface="맑은 고딕"/>
                <a:ea typeface="맑은 고딕"/>
                <a:cs typeface="맑은 고딕"/>
              </a:rPr>
              <a:t>22,357개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59" y="1737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2000">
                <a:latin typeface="맑은 고딕"/>
                <a:ea typeface="맑은 고딕"/>
                <a:cs typeface="맑은 고딕"/>
              </a:rPr>
              <a:t>총매출</a:t>
            </a:r>
          </a:p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3600" b="1">
                <a:latin typeface="맑은 고딕"/>
                <a:ea typeface="맑은 고딕"/>
                <a:cs typeface="맑은 고딕"/>
              </a:rPr>
              <a:t>202,883,040원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2000">
                <a:latin typeface="맑은 고딕"/>
                <a:ea typeface="맑은 고딕"/>
                <a:cs typeface="맑은 고딕"/>
              </a:rPr>
              <a:t>판매 기록이 있는 날</a:t>
            </a:r>
          </a:p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3600" b="1">
                <a:latin typeface="맑은 고딕"/>
                <a:ea typeface="맑은 고딕"/>
                <a:cs typeface="맑은 고딕"/>
              </a:rPr>
              <a:t>29일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3931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2000">
                <a:latin typeface="맑은 고딕"/>
                <a:ea typeface="맑은 고딕"/>
                <a:cs typeface="맑은 고딕"/>
              </a:rPr>
              <a:t>매출 1위 지점(판매금액 기준)</a:t>
            </a:r>
          </a:p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 sz="3600" b="1">
                <a:latin typeface="맑은 고딕"/>
                <a:ea typeface="맑은 고딕"/>
                <a:cs typeface="맑은 고딕"/>
              </a:rPr>
              <a:t>강남점 39,353,380원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지점별 판매금액 (원)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주차별 판매금액 추이 (원)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다음 주 할 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10월 일보 정리 규칙을 문서로 남기기</a:t>
            </a:r>
          </a:p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포장 파손 반품이 많은 거래처 확인</a:t>
            </a:r>
          </a:p>
          <a:p>
            <a:pPr>
              <a:defRPr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강남점 냉장 진열대 점검 결과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