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달성률(%)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온라인팀</c:v>
                </c:pt>
                <c:pt idx="1">
                  <c:v>영업1팀</c:v>
                </c:pt>
                <c:pt idx="2">
                  <c:v>영업2팀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112.0</c:v>
                </c:pt>
                <c:pt idx="1">
                  <c:v>107.5</c:v>
                </c:pt>
                <c:pt idx="2">
                  <c:v>92.0</c:v>
                </c:pt>
              </c:numCache>
            </c:numRef>
          </c:val>
        </c:ser>
        <c:dLbls>
          <c:numFmt formatCode="0.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latin typeface="맑은 고딕"/>
                <a:ea typeface="맑은 고딕"/>
              </a:rPr>
              <a:t>2026년 9월 팀별 실적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4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맑은 고딕"/>
                <a:ea typeface="맑은 고딕"/>
              </a:rPr>
              <a:t>모아상사 경영지원팀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맑은 고딕"/>
                <a:ea typeface="맑은 고딕"/>
              </a:rPr>
              <a:t>전체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440000"/>
            <a:ext cx="100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맑은 고딕"/>
                <a:ea typeface="맑은 고딕"/>
              </a:rPr>
              <a:t>목표 합계 10,200만원</a:t>
            </a:r>
          </a:p>
          <a:p>
            <a:r>
              <a:rPr sz="2800" b="0">
                <a:latin typeface="맑은 고딕"/>
                <a:ea typeface="맑은 고딕"/>
              </a:rPr>
              <a:t>9월 실적 합계 10,515만원</a:t>
            </a:r>
          </a:p>
          <a:p>
            <a:r>
              <a:rPr sz="2800" b="0">
                <a:latin typeface="맑은 고딕"/>
                <a:ea typeface="맑은 고딕"/>
              </a:rPr>
              <a:t>전체 달성률 103.1%</a:t>
            </a:r>
          </a:p>
          <a:p>
            <a:r>
              <a:rPr sz="2800" b="0">
                <a:latin typeface="맑은 고딕"/>
                <a:ea typeface="맑은 고딕"/>
              </a:rPr>
              <a:t>전월 대비 +6.5%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맑은 고딕"/>
                <a:ea typeface="맑은 고딕"/>
              </a:rPr>
              <a:t>팀별 달성률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80000" y="1260000"/>
          <a:ext cx="10080000" cy="50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맑은 고딕"/>
                <a:ea typeface="맑은 고딕"/>
              </a:rPr>
              <a:t>팀별 전월 대비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80000" y="1440000"/>
          <a:ext cx="100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520000"/>
                <a:gridCol w="2520000"/>
                <a:gridCol w="2520000"/>
              </a:tblGrid>
              <a:tr h="720000"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8월 실적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9월 실적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전월 대비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영업1팀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4,180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4,515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+8.0%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영업2팀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3,450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3,312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−4.0%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온라인팀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2,240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2,688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맑은 고딕"/>
                          <a:ea typeface="맑은 고딕"/>
                        </a:rPr>
                        <a:t>+20.0%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0000" y="468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latin typeface="맑은 고딕"/>
                <a:ea typeface="맑은 고딕"/>
              </a:rPr>
              <a:t>단위: 만원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3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맑은 고딕"/>
                <a:ea typeface="맑은 고딕"/>
              </a:rPr>
              <a:t>특이사항과 다음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440000"/>
            <a:ext cx="100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맑은 고딕"/>
                <a:ea typeface="맑은 고딕"/>
              </a:rPr>
              <a:t>영업2팀 달성률 92.0%, 전월 대비 −4.0%</a:t>
            </a:r>
          </a:p>
          <a:p>
            <a:r>
              <a:rPr sz="2600" b="0">
                <a:latin typeface="맑은 고딕"/>
                <a:ea typeface="맑은 고딕"/>
              </a:rPr>
              <a:t>온라인팀 전월 대비 +20.0%, 증가 폭 가장 큼</a:t>
            </a:r>
          </a:p>
          <a:p>
            <a:r>
              <a:rPr sz="2600" b="0">
                <a:latin typeface="맑은 고딕"/>
                <a:ea typeface="맑은 고딕"/>
              </a:rPr>
              <a:t>11월 2일(월) 주간회의에서 영업2팀 점검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